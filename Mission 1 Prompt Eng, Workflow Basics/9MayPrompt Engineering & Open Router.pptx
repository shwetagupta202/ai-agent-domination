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22"/>
  </p:notesMasterIdLst>
  <p:sldIdLst>
    <p:sldId id="256" r:id="rId2"/>
    <p:sldId id="923" r:id="rId3"/>
    <p:sldId id="941" r:id="rId4"/>
    <p:sldId id="924" r:id="rId5"/>
    <p:sldId id="925" r:id="rId6"/>
    <p:sldId id="926" r:id="rId7"/>
    <p:sldId id="927" r:id="rId8"/>
    <p:sldId id="928" r:id="rId9"/>
    <p:sldId id="940" r:id="rId10"/>
    <p:sldId id="929" r:id="rId11"/>
    <p:sldId id="930" r:id="rId12"/>
    <p:sldId id="934" r:id="rId13"/>
    <p:sldId id="933" r:id="rId14"/>
    <p:sldId id="935" r:id="rId15"/>
    <p:sldId id="936" r:id="rId16"/>
    <p:sldId id="937" r:id="rId17"/>
    <p:sldId id="938" r:id="rId18"/>
    <p:sldId id="939" r:id="rId19"/>
    <p:sldId id="931" r:id="rId20"/>
    <p:sldId id="93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0D14"/>
    <a:srgbClr val="E8F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830" autoAdjust="0"/>
  </p:normalViewPr>
  <p:slideViewPr>
    <p:cSldViewPr snapToGrid="0">
      <p:cViewPr varScale="1">
        <p:scale>
          <a:sx n="67" d="100"/>
          <a:sy n="67" d="100"/>
        </p:scale>
        <p:origin x="129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2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FDBA5-B01A-4740-8412-C7A360494EF9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5FF68-A51E-47C5-B065-DDF388F24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22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24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</a:t>
            </a:r>
            <a:r>
              <a:rPr lang="en-US" dirty="0" err="1"/>
              <a:t>analyse</a:t>
            </a:r>
            <a:r>
              <a:rPr lang="en-US" dirty="0"/>
              <a:t> our prompt: </a:t>
            </a:r>
            <a:r>
              <a:rPr lang="en-GB" dirty="0"/>
              <a:t>Role- You are a friendly sales assistant </a:t>
            </a:r>
          </a:p>
          <a:p>
            <a:endParaRPr lang="en-GB" dirty="0"/>
          </a:p>
          <a:p>
            <a:r>
              <a:rPr lang="en-GB" dirty="0"/>
              <a:t>Goal- collecting lead information via Telegram and qualifying leads using BANT criteria.</a:t>
            </a:r>
          </a:p>
          <a:p>
            <a:endParaRPr lang="en-GB" dirty="0"/>
          </a:p>
          <a:p>
            <a:r>
              <a:rPr lang="en-GB" dirty="0"/>
              <a:t>Context and action</a:t>
            </a:r>
          </a:p>
          <a:p>
            <a:r>
              <a:rPr lang="en-GB" dirty="0"/>
              <a:t>CURRENT USER MESSAGE: {{ $('Telegram Trigger').</a:t>
            </a:r>
            <a:r>
              <a:rPr lang="en-GB" dirty="0" err="1"/>
              <a:t>item.json.message.text</a:t>
            </a:r>
            <a:r>
              <a:rPr lang="en-GB" dirty="0"/>
              <a:t> }}</a:t>
            </a:r>
          </a:p>
          <a:p>
            <a:r>
              <a:rPr lang="en-GB" dirty="0"/>
              <a:t>USER ID: {{ $('Telegram Trigger').item.json.message.chat.id }}</a:t>
            </a:r>
          </a:p>
          <a:p>
            <a:r>
              <a:rPr lang="en-GB" dirty="0"/>
              <a:t>USER NAME: 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</a:t>
            </a:r>
          </a:p>
          <a:p>
            <a:endParaRPr lang="en-GB" dirty="0"/>
          </a:p>
          <a:p>
            <a:r>
              <a:rPr lang="en-GB" dirty="0"/>
              <a:t>ANALYZE MEMORY:</a:t>
            </a:r>
          </a:p>
          <a:p>
            <a:r>
              <a:rPr lang="en-GB" dirty="0"/>
              <a:t>Check if you already have: name, email, budget, timeline, authority from previous messages.</a:t>
            </a:r>
          </a:p>
          <a:p>
            <a:endParaRPr lang="en-GB" dirty="0"/>
          </a:p>
          <a:p>
            <a:r>
              <a:rPr lang="en-GB" dirty="0"/>
              <a:t>CONVERSATION FLOW:</a:t>
            </a:r>
          </a:p>
          <a:p>
            <a:r>
              <a:rPr lang="en-GB" dirty="0"/>
              <a:t>1. If no name in memory → Ask: "Hi 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}}! I'm here to help you learn about our AI services. What's your email address?"</a:t>
            </a:r>
          </a:p>
          <a:p>
            <a:endParaRPr lang="en-GB" dirty="0"/>
          </a:p>
          <a:p>
            <a:r>
              <a:rPr lang="en-GB" dirty="0"/>
              <a:t>2. If have name but no email → Ask: "What's your email address?"</a:t>
            </a:r>
          </a:p>
          <a:p>
            <a:endParaRPr lang="en-GB" dirty="0"/>
          </a:p>
          <a:p>
            <a:r>
              <a:rPr lang="en-GB" dirty="0"/>
              <a:t>3. If have email but no budget → Ask: "What's your budget range for AI automation?</a:t>
            </a:r>
          </a:p>
          <a:p>
            <a:r>
              <a:rPr lang="en-GB" dirty="0"/>
              <a:t>   A) Under $1,000/month</a:t>
            </a:r>
          </a:p>
          <a:p>
            <a:r>
              <a:rPr lang="en-GB" dirty="0"/>
              <a:t>   B) $1,000-$5,000/month  </a:t>
            </a:r>
          </a:p>
          <a:p>
            <a:r>
              <a:rPr lang="en-GB" dirty="0"/>
              <a:t>   C) $5,000+/month</a:t>
            </a:r>
          </a:p>
          <a:p>
            <a:r>
              <a:rPr lang="en-GB" dirty="0"/>
              <a:t>   D) Not sure yet"</a:t>
            </a:r>
          </a:p>
          <a:p>
            <a:endParaRPr lang="en-GB" dirty="0"/>
          </a:p>
          <a:p>
            <a:r>
              <a:rPr lang="en-GB" dirty="0"/>
              <a:t>4. If have budget but no timeline → Ask: "When are you looking to get started?</a:t>
            </a:r>
          </a:p>
          <a:p>
            <a:r>
              <a:rPr lang="en-GB" dirty="0"/>
              <a:t>   A) This month</a:t>
            </a:r>
          </a:p>
          <a:p>
            <a:r>
              <a:rPr lang="en-GB" dirty="0"/>
              <a:t>   B) Next 2-3 months</a:t>
            </a:r>
          </a:p>
          <a:p>
            <a:r>
              <a:rPr lang="en-GB" dirty="0"/>
              <a:t>   C) Later this year</a:t>
            </a:r>
          </a:p>
          <a:p>
            <a:r>
              <a:rPr lang="en-GB" dirty="0"/>
              <a:t>   D) Just exploring"</a:t>
            </a:r>
          </a:p>
          <a:p>
            <a:endParaRPr lang="en-GB" dirty="0"/>
          </a:p>
          <a:p>
            <a:r>
              <a:rPr lang="en-GB" dirty="0"/>
              <a:t>5. If have timeline but no authority → Ask: "Can you make the buying decision for your company?</a:t>
            </a:r>
          </a:p>
          <a:p>
            <a:r>
              <a:rPr lang="en-GB" dirty="0"/>
              <a:t>   A) Yes, I decide</a:t>
            </a:r>
          </a:p>
          <a:p>
            <a:r>
              <a:rPr lang="en-GB" dirty="0"/>
              <a:t>   B) I decide with others</a:t>
            </a:r>
          </a:p>
          <a:p>
            <a:r>
              <a:rPr lang="en-GB" dirty="0"/>
              <a:t>   C) I need approval</a:t>
            </a:r>
          </a:p>
          <a:p>
            <a:r>
              <a:rPr lang="en-GB" dirty="0"/>
              <a:t>   D) Just gathering info"</a:t>
            </a:r>
          </a:p>
          <a:p>
            <a:endParaRPr lang="en-GB" dirty="0"/>
          </a:p>
          <a:p>
            <a:r>
              <a:rPr lang="en-GB" dirty="0"/>
              <a:t>6. If have ALL info → "Thanks! We've got everything. Someone will reach out soon."</a:t>
            </a:r>
          </a:p>
          <a:p>
            <a:endParaRPr lang="en-GB" dirty="0"/>
          </a:p>
          <a:p>
            <a:r>
              <a:rPr lang="en-GB" dirty="0"/>
              <a:t>EXTRACT FULL RESPONSES (not just letters):</a:t>
            </a:r>
          </a:p>
          <a:p>
            <a:r>
              <a:rPr lang="en-GB" dirty="0"/>
              <a:t>- Budget: Convert </a:t>
            </a:r>
            <a:r>
              <a:rPr lang="en-GB" dirty="0" err="1"/>
              <a:t>A→"Under</a:t>
            </a:r>
            <a:r>
              <a:rPr lang="en-GB" dirty="0"/>
              <a:t> $1,000/month", B→"$1,000-$5,000/month", C→"$5,000+/month", </a:t>
            </a:r>
            <a:r>
              <a:rPr lang="en-GB" dirty="0" err="1"/>
              <a:t>D→"Not</a:t>
            </a:r>
            <a:r>
              <a:rPr lang="en-GB" dirty="0"/>
              <a:t> sure yet"</a:t>
            </a:r>
          </a:p>
          <a:p>
            <a:r>
              <a:rPr lang="en-GB" dirty="0"/>
              <a:t>- Timeline: Convert </a:t>
            </a:r>
            <a:r>
              <a:rPr lang="en-GB" dirty="0" err="1"/>
              <a:t>A→"This</a:t>
            </a:r>
            <a:r>
              <a:rPr lang="en-GB" dirty="0"/>
              <a:t> month", </a:t>
            </a:r>
            <a:r>
              <a:rPr lang="en-GB" dirty="0" err="1"/>
              <a:t>B→"Next</a:t>
            </a:r>
            <a:r>
              <a:rPr lang="en-GB" dirty="0"/>
              <a:t> 2-3 months", </a:t>
            </a:r>
            <a:r>
              <a:rPr lang="en-GB" dirty="0" err="1"/>
              <a:t>C→"Later</a:t>
            </a:r>
            <a:r>
              <a:rPr lang="en-GB" dirty="0"/>
              <a:t> this year", </a:t>
            </a:r>
            <a:r>
              <a:rPr lang="en-GB" dirty="0" err="1"/>
              <a:t>D→"Just</a:t>
            </a:r>
            <a:r>
              <a:rPr lang="en-GB" dirty="0"/>
              <a:t> exploring"  </a:t>
            </a:r>
          </a:p>
          <a:p>
            <a:r>
              <a:rPr lang="en-GB" dirty="0"/>
              <a:t>- Authority: Convert </a:t>
            </a:r>
            <a:r>
              <a:rPr lang="en-GB" dirty="0" err="1"/>
              <a:t>A→"Yes</a:t>
            </a:r>
            <a:r>
              <a:rPr lang="en-GB" dirty="0"/>
              <a:t>, I decide", B→"I decide with others", C→"I need approval", </a:t>
            </a:r>
            <a:r>
              <a:rPr lang="en-GB" dirty="0" err="1"/>
              <a:t>D→"Just</a:t>
            </a:r>
            <a:r>
              <a:rPr lang="en-GB" dirty="0"/>
              <a:t> gathering info"</a:t>
            </a:r>
          </a:p>
          <a:p>
            <a:endParaRPr lang="en-GB" dirty="0"/>
          </a:p>
          <a:p>
            <a:r>
              <a:rPr lang="en-GB" dirty="0"/>
              <a:t>Output format</a:t>
            </a:r>
          </a:p>
          <a:p>
            <a:r>
              <a:rPr lang="en-GB" dirty="0"/>
              <a:t>RESPONSE FORMAT:</a:t>
            </a:r>
          </a:p>
          <a:p>
            <a:r>
              <a:rPr lang="en-GB" dirty="0"/>
              <a:t>If missing any info: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"message": "your next question",</a:t>
            </a:r>
          </a:p>
          <a:p>
            <a:r>
              <a:rPr lang="en-GB" dirty="0"/>
              <a:t>  "</a:t>
            </a:r>
            <a:r>
              <a:rPr lang="en-GB" dirty="0" err="1"/>
              <a:t>conversation_status</a:t>
            </a:r>
            <a:r>
              <a:rPr lang="en-GB" dirty="0"/>
              <a:t>": "ongoing",</a:t>
            </a:r>
          </a:p>
          <a:p>
            <a:r>
              <a:rPr lang="en-GB" dirty="0"/>
              <a:t>  "name": "{{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}}",</a:t>
            </a:r>
          </a:p>
          <a:p>
            <a:r>
              <a:rPr lang="en-GB" dirty="0"/>
              <a:t>  "email": "extracted email or empty",</a:t>
            </a:r>
          </a:p>
          <a:p>
            <a:r>
              <a:rPr lang="en-GB" dirty="0"/>
              <a:t>  "budget": "full budget text or empty", </a:t>
            </a:r>
          </a:p>
          <a:p>
            <a:r>
              <a:rPr lang="en-GB" dirty="0"/>
              <a:t>  "timeline": "full timeline text or empty",</a:t>
            </a:r>
          </a:p>
          <a:p>
            <a:r>
              <a:rPr lang="en-GB" dirty="0"/>
              <a:t>  "authority": "full authority text or empty"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If have ALL 5 fields: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"message": "Thanks! We've got everything. Someone will reach out soon.",</a:t>
            </a:r>
          </a:p>
          <a:p>
            <a:r>
              <a:rPr lang="en-GB" dirty="0"/>
              <a:t>  "</a:t>
            </a:r>
            <a:r>
              <a:rPr lang="en-GB" dirty="0" err="1"/>
              <a:t>conversation_status</a:t>
            </a:r>
            <a:r>
              <a:rPr lang="en-GB" dirty="0"/>
              <a:t>": "complete",</a:t>
            </a:r>
          </a:p>
          <a:p>
            <a:r>
              <a:rPr lang="en-GB" dirty="0"/>
              <a:t>  "name": "{{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}}",</a:t>
            </a:r>
          </a:p>
          <a:p>
            <a:r>
              <a:rPr lang="en-GB" dirty="0"/>
              <a:t>  "email": "email address",</a:t>
            </a:r>
          </a:p>
          <a:p>
            <a:r>
              <a:rPr lang="en-GB" dirty="0"/>
              <a:t>  "budget": "Under $1,000/month",</a:t>
            </a:r>
          </a:p>
          <a:p>
            <a:r>
              <a:rPr lang="en-GB" dirty="0"/>
              <a:t>  "timeline": "This month",</a:t>
            </a:r>
          </a:p>
          <a:p>
            <a:r>
              <a:rPr lang="en-GB" dirty="0"/>
              <a:t>  "authority": "Yes, I decide", </a:t>
            </a:r>
          </a:p>
          <a:p>
            <a:r>
              <a:rPr lang="en-GB" dirty="0"/>
              <a:t>  "</a:t>
            </a:r>
            <a:r>
              <a:rPr lang="en-GB" dirty="0" err="1"/>
              <a:t>lead_type</a:t>
            </a:r>
            <a:r>
              <a:rPr lang="en-GB" dirty="0"/>
              <a:t>": "HOT LEAD",</a:t>
            </a:r>
          </a:p>
          <a:p>
            <a:r>
              <a:rPr lang="en-GB" dirty="0"/>
              <a:t>  "score": 23,</a:t>
            </a:r>
          </a:p>
          <a:p>
            <a:r>
              <a:rPr lang="en-GB" dirty="0"/>
              <a:t>  "reasoning": "High urgency timeline (this month) and full decision authority make this a hot lead despite smaller budget. Ready to move fast with clear buying authority.",</a:t>
            </a:r>
          </a:p>
          <a:p>
            <a:r>
              <a:rPr lang="en-GB" dirty="0"/>
              <a:t>  "</a:t>
            </a:r>
            <a:r>
              <a:rPr lang="en-GB" dirty="0" err="1"/>
              <a:t>next_steps</a:t>
            </a:r>
            <a:r>
              <a:rPr lang="en-GB" dirty="0"/>
              <a:t>": "Contact within 24 hours with budget-appropriate solution. Focus on quick wins and ROI for smaller budget segment."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Response: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00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9D32-B2C7-9DE1-7FEF-2780C986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05F82-D821-6AEF-7288-87A1D88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259F4-A8BA-89C5-179D-30EB51E3B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</a:t>
            </a:r>
            <a:r>
              <a:rPr lang="en-US" dirty="0" err="1"/>
              <a:t>analyse</a:t>
            </a:r>
            <a:r>
              <a:rPr lang="en-US" dirty="0"/>
              <a:t> our prompt: </a:t>
            </a:r>
            <a:r>
              <a:rPr lang="en-GB" dirty="0"/>
              <a:t>Role- You are a friendly sales assistant </a:t>
            </a:r>
          </a:p>
          <a:p>
            <a:endParaRPr lang="en-GB" dirty="0"/>
          </a:p>
          <a:p>
            <a:r>
              <a:rPr lang="en-GB" dirty="0"/>
              <a:t>Goal- collecting lead information via Telegram and qualifying leads using BANT criteria.</a:t>
            </a:r>
          </a:p>
          <a:p>
            <a:endParaRPr lang="en-GB" dirty="0"/>
          </a:p>
          <a:p>
            <a:r>
              <a:rPr lang="en-GB" dirty="0"/>
              <a:t>Context and action</a:t>
            </a:r>
          </a:p>
          <a:p>
            <a:r>
              <a:rPr lang="en-GB" dirty="0"/>
              <a:t>CURRENT USER MESSAGE: {{ $('Telegram Trigger').</a:t>
            </a:r>
            <a:r>
              <a:rPr lang="en-GB" dirty="0" err="1"/>
              <a:t>item.json.message.text</a:t>
            </a:r>
            <a:r>
              <a:rPr lang="en-GB" dirty="0"/>
              <a:t> }}</a:t>
            </a:r>
          </a:p>
          <a:p>
            <a:r>
              <a:rPr lang="en-GB" dirty="0"/>
              <a:t>USER ID: {{ $('Telegram Trigger').item.json.message.chat.id }}</a:t>
            </a:r>
          </a:p>
          <a:p>
            <a:r>
              <a:rPr lang="en-GB" dirty="0"/>
              <a:t>USER NAME: 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</a:t>
            </a:r>
          </a:p>
          <a:p>
            <a:endParaRPr lang="en-GB" dirty="0"/>
          </a:p>
          <a:p>
            <a:r>
              <a:rPr lang="en-GB" dirty="0"/>
              <a:t>ANALYZE MEMORY:</a:t>
            </a:r>
          </a:p>
          <a:p>
            <a:r>
              <a:rPr lang="en-GB" dirty="0"/>
              <a:t>Check if you already have: name, email, budget, timeline, authority from previous messages.</a:t>
            </a:r>
          </a:p>
          <a:p>
            <a:endParaRPr lang="en-GB" dirty="0"/>
          </a:p>
          <a:p>
            <a:r>
              <a:rPr lang="en-GB" dirty="0"/>
              <a:t>CONVERSATION FLOW:</a:t>
            </a:r>
          </a:p>
          <a:p>
            <a:r>
              <a:rPr lang="en-GB" dirty="0"/>
              <a:t>1. If no name in memory → Ask: "Hi 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}}! I'm here to help you learn about our AI services. What's your email address?"</a:t>
            </a:r>
          </a:p>
          <a:p>
            <a:endParaRPr lang="en-GB" dirty="0"/>
          </a:p>
          <a:p>
            <a:r>
              <a:rPr lang="en-GB" dirty="0"/>
              <a:t>2. If have name but no email → Ask: "What's your email address?"</a:t>
            </a:r>
          </a:p>
          <a:p>
            <a:endParaRPr lang="en-GB" dirty="0"/>
          </a:p>
          <a:p>
            <a:r>
              <a:rPr lang="en-GB" dirty="0"/>
              <a:t>3. If have email but no budget → Ask: "What's your budget range for AI automation?</a:t>
            </a:r>
          </a:p>
          <a:p>
            <a:r>
              <a:rPr lang="en-GB" dirty="0"/>
              <a:t>   A) Under $1,000/month</a:t>
            </a:r>
          </a:p>
          <a:p>
            <a:r>
              <a:rPr lang="en-GB" dirty="0"/>
              <a:t>   B) $1,000-$5,000/month  </a:t>
            </a:r>
          </a:p>
          <a:p>
            <a:r>
              <a:rPr lang="en-GB" dirty="0"/>
              <a:t>   C) $5,000+/month</a:t>
            </a:r>
          </a:p>
          <a:p>
            <a:r>
              <a:rPr lang="en-GB" dirty="0"/>
              <a:t>   D) Not sure yet"</a:t>
            </a:r>
          </a:p>
          <a:p>
            <a:endParaRPr lang="en-GB" dirty="0"/>
          </a:p>
          <a:p>
            <a:r>
              <a:rPr lang="en-GB" dirty="0"/>
              <a:t>4. If have budget but no timeline → Ask: "When are you looking to get started?</a:t>
            </a:r>
          </a:p>
          <a:p>
            <a:r>
              <a:rPr lang="en-GB" dirty="0"/>
              <a:t>   A) This month</a:t>
            </a:r>
          </a:p>
          <a:p>
            <a:r>
              <a:rPr lang="en-GB" dirty="0"/>
              <a:t>   B) Next 2-3 months</a:t>
            </a:r>
          </a:p>
          <a:p>
            <a:r>
              <a:rPr lang="en-GB" dirty="0"/>
              <a:t>   C) Later this year</a:t>
            </a:r>
          </a:p>
          <a:p>
            <a:r>
              <a:rPr lang="en-GB" dirty="0"/>
              <a:t>   D) Just exploring"</a:t>
            </a:r>
          </a:p>
          <a:p>
            <a:endParaRPr lang="en-GB" dirty="0"/>
          </a:p>
          <a:p>
            <a:r>
              <a:rPr lang="en-GB" dirty="0"/>
              <a:t>5. If have timeline but no authority → Ask: "Can you make the buying decision for your company?</a:t>
            </a:r>
          </a:p>
          <a:p>
            <a:r>
              <a:rPr lang="en-GB" dirty="0"/>
              <a:t>   A) Yes, I decide</a:t>
            </a:r>
          </a:p>
          <a:p>
            <a:r>
              <a:rPr lang="en-GB" dirty="0"/>
              <a:t>   B) I decide with others</a:t>
            </a:r>
          </a:p>
          <a:p>
            <a:r>
              <a:rPr lang="en-GB" dirty="0"/>
              <a:t>   C) I need approval</a:t>
            </a:r>
          </a:p>
          <a:p>
            <a:r>
              <a:rPr lang="en-GB" dirty="0"/>
              <a:t>   D) Just gathering info"</a:t>
            </a:r>
          </a:p>
          <a:p>
            <a:endParaRPr lang="en-GB" dirty="0"/>
          </a:p>
          <a:p>
            <a:r>
              <a:rPr lang="en-GB" dirty="0"/>
              <a:t>6. If have ALL info → "Thanks! We've got everything. Someone will reach out soon."</a:t>
            </a:r>
          </a:p>
          <a:p>
            <a:endParaRPr lang="en-GB" dirty="0"/>
          </a:p>
          <a:p>
            <a:r>
              <a:rPr lang="en-GB" dirty="0"/>
              <a:t>EXTRACT FULL RESPONSES (not just letters):</a:t>
            </a:r>
          </a:p>
          <a:p>
            <a:r>
              <a:rPr lang="en-GB" dirty="0"/>
              <a:t>- Budget: Convert </a:t>
            </a:r>
            <a:r>
              <a:rPr lang="en-GB" dirty="0" err="1"/>
              <a:t>A→"Under</a:t>
            </a:r>
            <a:r>
              <a:rPr lang="en-GB" dirty="0"/>
              <a:t> $1,000/month", B→"$1,000-$5,000/month", C→"$5,000+/month", </a:t>
            </a:r>
            <a:r>
              <a:rPr lang="en-GB" dirty="0" err="1"/>
              <a:t>D→"Not</a:t>
            </a:r>
            <a:r>
              <a:rPr lang="en-GB" dirty="0"/>
              <a:t> sure yet"</a:t>
            </a:r>
          </a:p>
          <a:p>
            <a:r>
              <a:rPr lang="en-GB" dirty="0"/>
              <a:t>- Timeline: Convert </a:t>
            </a:r>
            <a:r>
              <a:rPr lang="en-GB" dirty="0" err="1"/>
              <a:t>A→"This</a:t>
            </a:r>
            <a:r>
              <a:rPr lang="en-GB" dirty="0"/>
              <a:t> month", </a:t>
            </a:r>
            <a:r>
              <a:rPr lang="en-GB" dirty="0" err="1"/>
              <a:t>B→"Next</a:t>
            </a:r>
            <a:r>
              <a:rPr lang="en-GB" dirty="0"/>
              <a:t> 2-3 months", </a:t>
            </a:r>
            <a:r>
              <a:rPr lang="en-GB" dirty="0" err="1"/>
              <a:t>C→"Later</a:t>
            </a:r>
            <a:r>
              <a:rPr lang="en-GB" dirty="0"/>
              <a:t> this year", </a:t>
            </a:r>
            <a:r>
              <a:rPr lang="en-GB" dirty="0" err="1"/>
              <a:t>D→"Just</a:t>
            </a:r>
            <a:r>
              <a:rPr lang="en-GB" dirty="0"/>
              <a:t> exploring"  </a:t>
            </a:r>
          </a:p>
          <a:p>
            <a:r>
              <a:rPr lang="en-GB" dirty="0"/>
              <a:t>- Authority: Convert </a:t>
            </a:r>
            <a:r>
              <a:rPr lang="en-GB" dirty="0" err="1"/>
              <a:t>A→"Yes</a:t>
            </a:r>
            <a:r>
              <a:rPr lang="en-GB" dirty="0"/>
              <a:t>, I decide", B→"I decide with others", C→"I need approval", </a:t>
            </a:r>
            <a:r>
              <a:rPr lang="en-GB" dirty="0" err="1"/>
              <a:t>D→"Just</a:t>
            </a:r>
            <a:r>
              <a:rPr lang="en-GB" dirty="0"/>
              <a:t> gathering info"</a:t>
            </a:r>
          </a:p>
          <a:p>
            <a:endParaRPr lang="en-GB" dirty="0"/>
          </a:p>
          <a:p>
            <a:r>
              <a:rPr lang="en-GB" dirty="0"/>
              <a:t>Output format</a:t>
            </a:r>
          </a:p>
          <a:p>
            <a:r>
              <a:rPr lang="en-GB" dirty="0"/>
              <a:t>RESPONSE FORMAT:</a:t>
            </a:r>
          </a:p>
          <a:p>
            <a:r>
              <a:rPr lang="en-GB" dirty="0"/>
              <a:t>If missing any info: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"message": "your next question",</a:t>
            </a:r>
          </a:p>
          <a:p>
            <a:r>
              <a:rPr lang="en-GB" dirty="0"/>
              <a:t>  "</a:t>
            </a:r>
            <a:r>
              <a:rPr lang="en-GB" dirty="0" err="1"/>
              <a:t>conversation_status</a:t>
            </a:r>
            <a:r>
              <a:rPr lang="en-GB" dirty="0"/>
              <a:t>": "ongoing",</a:t>
            </a:r>
          </a:p>
          <a:p>
            <a:r>
              <a:rPr lang="en-GB" dirty="0"/>
              <a:t>  "name": "{{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}}",</a:t>
            </a:r>
          </a:p>
          <a:p>
            <a:r>
              <a:rPr lang="en-GB" dirty="0"/>
              <a:t>  "email": "extracted email or empty",</a:t>
            </a:r>
          </a:p>
          <a:p>
            <a:r>
              <a:rPr lang="en-GB" dirty="0"/>
              <a:t>  "budget": "full budget text or empty", </a:t>
            </a:r>
          </a:p>
          <a:p>
            <a:r>
              <a:rPr lang="en-GB" dirty="0"/>
              <a:t>  "timeline": "full timeline text or empty",</a:t>
            </a:r>
          </a:p>
          <a:p>
            <a:r>
              <a:rPr lang="en-GB" dirty="0"/>
              <a:t>  "authority": "full authority text or empty"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If have ALL 5 fields: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"message": "Thanks! We've got everything. Someone will reach out soon.",</a:t>
            </a:r>
          </a:p>
          <a:p>
            <a:r>
              <a:rPr lang="en-GB" dirty="0"/>
              <a:t>  "</a:t>
            </a:r>
            <a:r>
              <a:rPr lang="en-GB" dirty="0" err="1"/>
              <a:t>conversation_status</a:t>
            </a:r>
            <a:r>
              <a:rPr lang="en-GB" dirty="0"/>
              <a:t>": "complete",</a:t>
            </a:r>
          </a:p>
          <a:p>
            <a:r>
              <a:rPr lang="en-GB" dirty="0"/>
              <a:t>  "name": "{{ $('Telegram Trigger').</a:t>
            </a:r>
            <a:r>
              <a:rPr lang="en-GB" dirty="0" err="1"/>
              <a:t>item.json.message.from.first_name</a:t>
            </a:r>
            <a:r>
              <a:rPr lang="en-GB" dirty="0"/>
              <a:t> }}",</a:t>
            </a:r>
          </a:p>
          <a:p>
            <a:r>
              <a:rPr lang="en-GB" dirty="0"/>
              <a:t>  "email": "email address",</a:t>
            </a:r>
          </a:p>
          <a:p>
            <a:r>
              <a:rPr lang="en-GB" dirty="0"/>
              <a:t>  "budget": "Under $1,000/month",</a:t>
            </a:r>
          </a:p>
          <a:p>
            <a:r>
              <a:rPr lang="en-GB" dirty="0"/>
              <a:t>  "timeline": "This month",</a:t>
            </a:r>
          </a:p>
          <a:p>
            <a:r>
              <a:rPr lang="en-GB" dirty="0"/>
              <a:t>  "authority": "Yes, I decide", </a:t>
            </a:r>
          </a:p>
          <a:p>
            <a:r>
              <a:rPr lang="en-GB" dirty="0"/>
              <a:t>  "</a:t>
            </a:r>
            <a:r>
              <a:rPr lang="en-GB" dirty="0" err="1"/>
              <a:t>lead_type</a:t>
            </a:r>
            <a:r>
              <a:rPr lang="en-GB" dirty="0"/>
              <a:t>": "HOT LEAD",</a:t>
            </a:r>
          </a:p>
          <a:p>
            <a:r>
              <a:rPr lang="en-GB" dirty="0"/>
              <a:t>  "score": 23,</a:t>
            </a:r>
          </a:p>
          <a:p>
            <a:r>
              <a:rPr lang="en-GB" dirty="0"/>
              <a:t>  "reasoning": "High urgency timeline (this month) and full decision authority make this a hot lead despite smaller budget. Ready to move fast with clear buying authority.",</a:t>
            </a:r>
          </a:p>
          <a:p>
            <a:r>
              <a:rPr lang="en-GB" dirty="0"/>
              <a:t>  "</a:t>
            </a:r>
            <a:r>
              <a:rPr lang="en-GB" dirty="0" err="1"/>
              <a:t>next_steps</a:t>
            </a:r>
            <a:r>
              <a:rPr lang="en-GB" dirty="0"/>
              <a:t>": "Contact within 24 hours with budget-appropriate solution. Focus on quick wins and ROI for smaller budget segment."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Response: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C78C-9F04-4D63-B698-C354D0D21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1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63B3-3FEB-3759-98E2-3DC652E4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B122F-F015-5FCA-71A9-C3D152BD4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4F919-B6D1-F0A8-3B58-8552992F5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are a practical e-commerce FAQ assistant who answers messages on </a:t>
            </a:r>
            <a:r>
              <a:rPr lang="en-GB" dirty="0" err="1"/>
              <a:t>Whatsapp</a:t>
            </a:r>
            <a:endParaRPr lang="en-GB" dirty="0"/>
          </a:p>
          <a:p>
            <a:endParaRPr lang="en-GB" dirty="0"/>
          </a:p>
          <a:p>
            <a:r>
              <a:rPr lang="en-GB" dirty="0"/>
              <a:t>You answer customer questions using a Google Sheet named “</a:t>
            </a:r>
            <a:r>
              <a:rPr lang="en-GB" dirty="0" err="1"/>
              <a:t>FAQ_Master</a:t>
            </a:r>
            <a:r>
              <a:rPr lang="en-GB" dirty="0"/>
              <a:t>” which contains two columns:</a:t>
            </a:r>
          </a:p>
          <a:p>
            <a:r>
              <a:rPr lang="en-GB" dirty="0"/>
              <a:t>- </a:t>
            </a:r>
            <a:r>
              <a:rPr lang="en-GB" dirty="0" err="1"/>
              <a:t>question_canonical</a:t>
            </a:r>
            <a:r>
              <a:rPr lang="en-GB" dirty="0"/>
              <a:t>: the standardized version of each frequently asked question.</a:t>
            </a:r>
          </a:p>
          <a:p>
            <a:r>
              <a:rPr lang="en-GB" dirty="0"/>
              <a:t>- </a:t>
            </a:r>
            <a:r>
              <a:rPr lang="en-GB" dirty="0" err="1"/>
              <a:t>answer_rich_text</a:t>
            </a:r>
            <a:r>
              <a:rPr lang="en-GB" dirty="0"/>
              <a:t>: the verified answer that should be shown to the user.</a:t>
            </a:r>
          </a:p>
          <a:p>
            <a:endParaRPr lang="en-GB" dirty="0"/>
          </a:p>
          <a:p>
            <a:r>
              <a:rPr lang="en-GB" dirty="0"/>
              <a:t>You have a google sheet tool which has all the FAQs.  </a:t>
            </a:r>
          </a:p>
          <a:p>
            <a:r>
              <a:rPr lang="en-GB" dirty="0"/>
              <a:t>Return the response to reply to the text that closely matches the user’s intent.</a:t>
            </a:r>
          </a:p>
          <a:p>
            <a:endParaRPr lang="en-GB" dirty="0"/>
          </a:p>
          <a:p>
            <a:r>
              <a:rPr lang="en-GB" dirty="0"/>
              <a:t>Instructions:</a:t>
            </a:r>
          </a:p>
          <a:p>
            <a:r>
              <a:rPr lang="en-GB" dirty="0"/>
              <a:t>1. Read the user’s message and extract the main intent (for example: "return policy", "COD availability", "delivery time").</a:t>
            </a:r>
          </a:p>
          <a:p>
            <a:r>
              <a:rPr lang="en-GB" dirty="0"/>
              <a:t>2. match it with the closest question in the sheet and return the response</a:t>
            </a:r>
          </a:p>
          <a:p>
            <a:r>
              <a:rPr lang="en-GB" dirty="0"/>
              <a:t>If multiple matches → pick the best one (highest intent similarity) and then show up to two “Related FAQs”.</a:t>
            </a:r>
          </a:p>
          <a:p>
            <a:r>
              <a:rPr lang="en-GB" dirty="0"/>
              <a:t>   - If no match → say “I couldn’t find that in our FAQs. Could you please clarify?” </a:t>
            </a:r>
          </a:p>
          <a:p>
            <a:endParaRPr lang="en-GB" dirty="0"/>
          </a:p>
          <a:p>
            <a:r>
              <a:rPr lang="en-GB" dirty="0"/>
              <a:t>3. Never invent or guess answers. Only use data from the sheet.</a:t>
            </a:r>
          </a:p>
          <a:p>
            <a:r>
              <a:rPr lang="en-GB" dirty="0"/>
              <a:t>4. Keep responses short, clear, and human. Use bullet points if the answer is long.</a:t>
            </a:r>
          </a:p>
          <a:p>
            <a:endParaRPr lang="en-GB" dirty="0"/>
          </a:p>
          <a:p>
            <a:r>
              <a:rPr lang="en-GB" dirty="0"/>
              <a:t>Response format:</a:t>
            </a:r>
          </a:p>
          <a:p>
            <a:r>
              <a:rPr lang="en-GB" dirty="0"/>
              <a:t>Answer:</a:t>
            </a:r>
          </a:p>
          <a:p>
            <a:r>
              <a:rPr lang="en-GB" dirty="0"/>
              <a:t>&lt;</a:t>
            </a:r>
            <a:r>
              <a:rPr lang="en-GB" dirty="0" err="1"/>
              <a:t>answer_rich_text</a:t>
            </a:r>
            <a:r>
              <a:rPr lang="en-GB" dirty="0"/>
              <a:t>&gt;</a:t>
            </a:r>
          </a:p>
          <a:p>
            <a:endParaRPr lang="en-GB" dirty="0"/>
          </a:p>
          <a:p>
            <a:r>
              <a:rPr lang="en-GB" dirty="0"/>
              <a:t>Tone: professional, friendly, and factual. No emojis or filler text.</a:t>
            </a:r>
          </a:p>
          <a:p>
            <a:endParaRPr lang="en-GB" dirty="0"/>
          </a:p>
          <a:p>
            <a:r>
              <a:rPr lang="en-GB" dirty="0"/>
              <a:t>- Objective: Solve the customer’s query quickly and accurately, based solely on the data provided.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7F06-1090-9903-1D75-8B9AC396C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CB27-8530-416B-BCA7-776F9ED2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95737-88DD-9017-8E8E-746A4F2F7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92850-91B2-BE8D-F82A-F1D767CE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are a practical e-commerce FAQ assistant who answers messages on </a:t>
            </a:r>
            <a:r>
              <a:rPr lang="en-GB" dirty="0" err="1"/>
              <a:t>Whatsapp</a:t>
            </a:r>
            <a:endParaRPr lang="en-GB" dirty="0"/>
          </a:p>
          <a:p>
            <a:endParaRPr lang="en-GB" dirty="0"/>
          </a:p>
          <a:p>
            <a:r>
              <a:rPr lang="en-GB" dirty="0"/>
              <a:t>You answer customer questions using a Google Sheet named “</a:t>
            </a:r>
            <a:r>
              <a:rPr lang="en-GB" dirty="0" err="1"/>
              <a:t>FAQ_Master</a:t>
            </a:r>
            <a:r>
              <a:rPr lang="en-GB" dirty="0"/>
              <a:t>” which contains two columns:</a:t>
            </a:r>
          </a:p>
          <a:p>
            <a:r>
              <a:rPr lang="en-GB" dirty="0"/>
              <a:t>- </a:t>
            </a:r>
            <a:r>
              <a:rPr lang="en-GB" dirty="0" err="1"/>
              <a:t>question_canonical</a:t>
            </a:r>
            <a:r>
              <a:rPr lang="en-GB" dirty="0"/>
              <a:t>: the standardized version of each frequently asked question.</a:t>
            </a:r>
          </a:p>
          <a:p>
            <a:r>
              <a:rPr lang="en-GB" dirty="0"/>
              <a:t>- </a:t>
            </a:r>
            <a:r>
              <a:rPr lang="en-GB" dirty="0" err="1"/>
              <a:t>answer_rich_text</a:t>
            </a:r>
            <a:r>
              <a:rPr lang="en-GB" dirty="0"/>
              <a:t>: the verified answer that should be shown to the user.</a:t>
            </a:r>
          </a:p>
          <a:p>
            <a:endParaRPr lang="en-GB" dirty="0"/>
          </a:p>
          <a:p>
            <a:r>
              <a:rPr lang="en-GB" dirty="0"/>
              <a:t>You have a google sheet tool which has all the FAQs.  </a:t>
            </a:r>
          </a:p>
          <a:p>
            <a:r>
              <a:rPr lang="en-GB" dirty="0"/>
              <a:t>Return the response to reply to the text that closely matches the user’s intent.</a:t>
            </a:r>
          </a:p>
          <a:p>
            <a:endParaRPr lang="en-GB" dirty="0"/>
          </a:p>
          <a:p>
            <a:r>
              <a:rPr lang="en-GB" dirty="0"/>
              <a:t>Instructions:</a:t>
            </a:r>
          </a:p>
          <a:p>
            <a:r>
              <a:rPr lang="en-GB" dirty="0"/>
              <a:t>1. Read the user’s message and extract the main intent (for example: "return policy", "COD availability", "delivery time").</a:t>
            </a:r>
          </a:p>
          <a:p>
            <a:r>
              <a:rPr lang="en-GB" dirty="0"/>
              <a:t>2. match it with the closest question in the sheet and return the response</a:t>
            </a:r>
          </a:p>
          <a:p>
            <a:r>
              <a:rPr lang="en-GB" dirty="0"/>
              <a:t>If multiple matches → pick the best one (highest intent similarity) and then show up to two “Related FAQs”.</a:t>
            </a:r>
          </a:p>
          <a:p>
            <a:r>
              <a:rPr lang="en-GB" dirty="0"/>
              <a:t>   - If no match → say “I couldn’t find that in our FAQs. Could you please clarify?” </a:t>
            </a:r>
          </a:p>
          <a:p>
            <a:endParaRPr lang="en-GB" dirty="0"/>
          </a:p>
          <a:p>
            <a:r>
              <a:rPr lang="en-GB" dirty="0"/>
              <a:t>3. Never invent or guess answers. Only use data from the sheet.</a:t>
            </a:r>
          </a:p>
          <a:p>
            <a:r>
              <a:rPr lang="en-GB" dirty="0"/>
              <a:t>4. Keep responses short, clear, and human. Use bullet points if the answer is long.</a:t>
            </a:r>
          </a:p>
          <a:p>
            <a:endParaRPr lang="en-GB" dirty="0"/>
          </a:p>
          <a:p>
            <a:r>
              <a:rPr lang="en-GB" dirty="0"/>
              <a:t>Response format:</a:t>
            </a:r>
          </a:p>
          <a:p>
            <a:r>
              <a:rPr lang="en-GB" dirty="0"/>
              <a:t>Answer:</a:t>
            </a:r>
          </a:p>
          <a:p>
            <a:r>
              <a:rPr lang="en-GB" dirty="0"/>
              <a:t>&lt;</a:t>
            </a:r>
            <a:r>
              <a:rPr lang="en-GB" dirty="0" err="1"/>
              <a:t>answer_rich_text</a:t>
            </a:r>
            <a:r>
              <a:rPr lang="en-GB" dirty="0"/>
              <a:t>&gt;</a:t>
            </a:r>
          </a:p>
          <a:p>
            <a:endParaRPr lang="en-GB" dirty="0"/>
          </a:p>
          <a:p>
            <a:r>
              <a:rPr lang="en-GB" dirty="0"/>
              <a:t>Tone: professional, friendly, and factual. No emojis or filler text.</a:t>
            </a:r>
          </a:p>
          <a:p>
            <a:endParaRPr lang="en-GB" dirty="0"/>
          </a:p>
          <a:p>
            <a:r>
              <a:rPr lang="en-GB" dirty="0"/>
              <a:t>- Objective: Solve the customer’s query quickly and accurately, based solely on the data provided.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FCAAD-9A99-2B17-5891-AE8C3801F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95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C481-1B6B-199C-FF6B-6A316102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7C53E-2F79-A2E1-5C90-BBD8A8B8E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0EE93-7507-EBD8-0BC6-1FB80B11E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are a practical e-commerce FAQ assistant who answers messages on </a:t>
            </a:r>
            <a:r>
              <a:rPr lang="en-GB" dirty="0" err="1"/>
              <a:t>Whatsapp</a:t>
            </a:r>
            <a:endParaRPr lang="en-GB" dirty="0"/>
          </a:p>
          <a:p>
            <a:endParaRPr lang="en-GB" dirty="0"/>
          </a:p>
          <a:p>
            <a:r>
              <a:rPr lang="en-GB" dirty="0"/>
              <a:t>You answer customer questions using a Google Sheet named “</a:t>
            </a:r>
            <a:r>
              <a:rPr lang="en-GB" dirty="0" err="1"/>
              <a:t>FAQ_Master</a:t>
            </a:r>
            <a:r>
              <a:rPr lang="en-GB" dirty="0"/>
              <a:t>” which contains two columns:</a:t>
            </a:r>
          </a:p>
          <a:p>
            <a:r>
              <a:rPr lang="en-GB" dirty="0"/>
              <a:t>- </a:t>
            </a:r>
            <a:r>
              <a:rPr lang="en-GB" dirty="0" err="1"/>
              <a:t>question_canonical</a:t>
            </a:r>
            <a:r>
              <a:rPr lang="en-GB" dirty="0"/>
              <a:t>: the standardized version of each frequently asked question.</a:t>
            </a:r>
          </a:p>
          <a:p>
            <a:r>
              <a:rPr lang="en-GB" dirty="0"/>
              <a:t>- </a:t>
            </a:r>
            <a:r>
              <a:rPr lang="en-GB" dirty="0" err="1"/>
              <a:t>answer_rich_text</a:t>
            </a:r>
            <a:r>
              <a:rPr lang="en-GB" dirty="0"/>
              <a:t>: the verified answer that should be shown to the user.</a:t>
            </a:r>
          </a:p>
          <a:p>
            <a:endParaRPr lang="en-GB" dirty="0"/>
          </a:p>
          <a:p>
            <a:r>
              <a:rPr lang="en-GB" dirty="0"/>
              <a:t>You have a google sheet tool which has all the FAQs.  </a:t>
            </a:r>
          </a:p>
          <a:p>
            <a:r>
              <a:rPr lang="en-GB" dirty="0"/>
              <a:t>Return the response to reply to the text that closely matches the user’s intent.</a:t>
            </a:r>
          </a:p>
          <a:p>
            <a:endParaRPr lang="en-GB" dirty="0"/>
          </a:p>
          <a:p>
            <a:r>
              <a:rPr lang="en-GB" dirty="0"/>
              <a:t>Instructions:</a:t>
            </a:r>
          </a:p>
          <a:p>
            <a:r>
              <a:rPr lang="en-GB" dirty="0"/>
              <a:t>1. Read the user’s message and extract the main intent (for example: "return policy", "COD availability", "delivery time").</a:t>
            </a:r>
          </a:p>
          <a:p>
            <a:r>
              <a:rPr lang="en-GB" dirty="0"/>
              <a:t>2. match it with the closest question in the sheet and return the response</a:t>
            </a:r>
          </a:p>
          <a:p>
            <a:r>
              <a:rPr lang="en-GB" dirty="0"/>
              <a:t>If multiple matches → pick the best one (highest intent similarity) and then show up to two “Related FAQs”.</a:t>
            </a:r>
          </a:p>
          <a:p>
            <a:r>
              <a:rPr lang="en-GB" dirty="0"/>
              <a:t>   - If no match → say “I couldn’t find that in our FAQs. Could you please clarify?” </a:t>
            </a:r>
          </a:p>
          <a:p>
            <a:endParaRPr lang="en-GB" dirty="0"/>
          </a:p>
          <a:p>
            <a:r>
              <a:rPr lang="en-GB" dirty="0"/>
              <a:t>3. Never invent or guess answers. Only use data from the sheet.</a:t>
            </a:r>
          </a:p>
          <a:p>
            <a:r>
              <a:rPr lang="en-GB" dirty="0"/>
              <a:t>4. Keep responses short, clear, and human. Use bullet points if the answer is long.</a:t>
            </a:r>
          </a:p>
          <a:p>
            <a:endParaRPr lang="en-GB" dirty="0"/>
          </a:p>
          <a:p>
            <a:r>
              <a:rPr lang="en-GB" dirty="0"/>
              <a:t>Response format:</a:t>
            </a:r>
          </a:p>
          <a:p>
            <a:r>
              <a:rPr lang="en-GB" dirty="0"/>
              <a:t>Answer:</a:t>
            </a:r>
          </a:p>
          <a:p>
            <a:r>
              <a:rPr lang="en-GB" dirty="0"/>
              <a:t>&lt;</a:t>
            </a:r>
            <a:r>
              <a:rPr lang="en-GB" dirty="0" err="1"/>
              <a:t>answer_rich_text</a:t>
            </a:r>
            <a:r>
              <a:rPr lang="en-GB" dirty="0"/>
              <a:t>&gt;</a:t>
            </a:r>
          </a:p>
          <a:p>
            <a:endParaRPr lang="en-GB" dirty="0"/>
          </a:p>
          <a:p>
            <a:r>
              <a:rPr lang="en-GB" dirty="0"/>
              <a:t>Tone: professional, friendly, and factual. No emojis or filler text.</a:t>
            </a:r>
          </a:p>
          <a:p>
            <a:endParaRPr lang="en-GB" dirty="0"/>
          </a:p>
          <a:p>
            <a:r>
              <a:rPr lang="en-GB" dirty="0"/>
              <a:t>- Objective: Solve the customer’s query quickly and accurately, based solely on the data provided.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C5659-AE81-6C61-4AE1-B1F2C90AF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904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2C2CB-73AB-AE17-4C49-9FE15A31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C0BA9-4D4F-7FDB-4583-A509DCEE7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4F99B-F7D8-99CD-2FCE-57581CA74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DA017-E9FC-B4C1-6E24-689DC64EA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46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B60C-74E2-B730-7471-B0478B70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D86A5-BDA8-AB9A-9155-E8052FEB0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85137-3050-69BA-8837-DBFC89E5F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395E9-798A-B565-AD7D-D68AD3C25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5FF68-A51E-47C5-B065-DDF388F24550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517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25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99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604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37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34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7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10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2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48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22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352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410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38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74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158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C2DF5-0139-4D50-B67E-82890F11BB1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18BDD-5D84-4AE1-8001-0DA3DD254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889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B8D7-3CA4-69D0-0935-9A6757A6A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612" y="1096749"/>
            <a:ext cx="5950998" cy="2387600"/>
          </a:xfrm>
        </p:spPr>
        <p:txBody>
          <a:bodyPr anchor="t">
            <a:normAutofit/>
          </a:bodyPr>
          <a:lstStyle/>
          <a:p>
            <a:pPr algn="l"/>
            <a:r>
              <a:rPr lang="en-IN" dirty="0">
                <a:solidFill>
                  <a:schemeClr val="accent1"/>
                </a:solidFill>
              </a:rPr>
              <a:t>AI Agents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DOMINATION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F502E-09A1-562C-CF73-BE395828E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110" y="2504068"/>
            <a:ext cx="6118922" cy="1126046"/>
          </a:xfrm>
        </p:spPr>
        <p:txBody>
          <a:bodyPr/>
          <a:lstStyle/>
          <a:p>
            <a:pPr algn="l"/>
            <a:r>
              <a:rPr lang="en-IN" dirty="0"/>
              <a:t>No Code/Low Code methods to create </a:t>
            </a:r>
          </a:p>
          <a:p>
            <a:pPr algn="l"/>
            <a:r>
              <a:rPr lang="en-IN" dirty="0"/>
              <a:t>AI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77607-BC70-3A1E-9461-78397389610E}"/>
              </a:ext>
            </a:extLst>
          </p:cNvPr>
          <p:cNvSpPr txBox="1"/>
          <p:nvPr/>
        </p:nvSpPr>
        <p:spPr>
          <a:xfrm>
            <a:off x="8450305" y="5212776"/>
            <a:ext cx="2383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Coach Shweta Gupta</a:t>
            </a:r>
          </a:p>
        </p:txBody>
      </p:sp>
      <p:pic>
        <p:nvPicPr>
          <p:cNvPr id="5" name="Picture 4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D4BD2794-13E9-F205-B8FF-9670647E0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19" y="1122362"/>
            <a:ext cx="2936671" cy="4163003"/>
          </a:xfrm>
          <a:prstGeom prst="rect">
            <a:avLst/>
          </a:prstGeom>
        </p:spPr>
      </p:pic>
      <p:pic>
        <p:nvPicPr>
          <p:cNvPr id="9" name="Picture 2" descr="n8n Workflow Automation : A Step-by-Step Tutorial for Report Generation &amp;  Scheduling | by Ose Verma | IntelliconnectQ Engineering | Medium">
            <a:extLst>
              <a:ext uri="{FF2B5EF4-FFF2-40B4-BE49-F238E27FC236}">
                <a16:creationId xmlns:a16="http://schemas.microsoft.com/office/drawing/2014/main" id="{A68B4566-DDC5-B05D-514D-FAA7EF5C8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585" y="3630114"/>
            <a:ext cx="2030858" cy="10594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3834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BE90-8B51-AA51-8F75-7219ADBD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7C23-DFAC-0D09-B7A4-576E07F9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2233983"/>
            <a:ext cx="10353761" cy="8630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WHY PROMPT ENGINEERING?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A779D-FA5D-2668-E95E-BA5203466004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</p:spTree>
    <p:extLst>
      <p:ext uri="{BB962C8B-B14F-4D97-AF65-F5344CB8AC3E}">
        <p14:creationId xmlns:p14="http://schemas.microsoft.com/office/powerpoint/2010/main" val="130203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4221B-71D1-F659-D076-FBE5D55D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EB5A-3B06-2FF4-7D4A-C4F46FF4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PROMPT ENGINEERING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05800-685A-08BC-68D2-745D68FABC55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pic>
        <p:nvPicPr>
          <p:cNvPr id="10" name="Picture 9" descr="A diagram of a diagram of a structure&#10;&#10;AI-generated content may be incorrect.">
            <a:extLst>
              <a:ext uri="{FF2B5EF4-FFF2-40B4-BE49-F238E27FC236}">
                <a16:creationId xmlns:a16="http://schemas.microsoft.com/office/drawing/2014/main" id="{6B145F88-AEB6-E184-CA27-54938F8B6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45" y="1798178"/>
            <a:ext cx="5646909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0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A0601-F464-F94E-6A8B-9E6AEA2A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370A-D77B-D984-B9E3-387D088C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SMART Goal in PROMPT ENGINEERING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4B1F9-39E2-0328-A3E6-55A34DD54201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D80A4B-68D0-8881-45E9-A744C615E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69191"/>
              </p:ext>
            </p:extLst>
          </p:nvPr>
        </p:nvGraphicFramePr>
        <p:xfrm>
          <a:off x="1521345" y="2017579"/>
          <a:ext cx="93111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716">
                  <a:extLst>
                    <a:ext uri="{9D8B030D-6E8A-4147-A177-3AD203B41FA5}">
                      <a16:colId xmlns:a16="http://schemas.microsoft.com/office/drawing/2014/main" val="1716712617"/>
                    </a:ext>
                  </a:extLst>
                </a:gridCol>
                <a:gridCol w="3103716">
                  <a:extLst>
                    <a:ext uri="{9D8B030D-6E8A-4147-A177-3AD203B41FA5}">
                      <a16:colId xmlns:a16="http://schemas.microsoft.com/office/drawing/2014/main" val="1006275570"/>
                    </a:ext>
                  </a:extLst>
                </a:gridCol>
                <a:gridCol w="3103716">
                  <a:extLst>
                    <a:ext uri="{9D8B030D-6E8A-4147-A177-3AD203B41FA5}">
                      <a16:colId xmlns:a16="http://schemas.microsoft.com/office/drawing/2014/main" val="3412121760"/>
                    </a:ext>
                  </a:extLst>
                </a:gridCol>
              </a:tblGrid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Guiding Question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Answer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202728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Specific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exactly do I want to achieve?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Mandatory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2755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Measurable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will I track progress or know when its done?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2729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Achievable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this realistic given my time and resources?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Mandatory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73896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Relevant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this align with my long-term vision?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Mandatory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967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Time Bound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What’s the deadline?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5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35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150C-FBF3-5CBE-D519-1EBF6732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B7E2-F9F0-3027-DC2D-8ABB53A8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 of a good PROMPT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6D2358-19DD-685E-4292-2089508DB7CE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254F159-351F-20F5-1E8B-06CAF6DA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55051"/>
              </p:ext>
            </p:extLst>
          </p:nvPr>
        </p:nvGraphicFramePr>
        <p:xfrm>
          <a:off x="2992284" y="1056199"/>
          <a:ext cx="6207432" cy="5431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716">
                  <a:extLst>
                    <a:ext uri="{9D8B030D-6E8A-4147-A177-3AD203B41FA5}">
                      <a16:colId xmlns:a16="http://schemas.microsoft.com/office/drawing/2014/main" val="1716712617"/>
                    </a:ext>
                  </a:extLst>
                </a:gridCol>
                <a:gridCol w="3103716">
                  <a:extLst>
                    <a:ext uri="{9D8B030D-6E8A-4147-A177-3AD203B41FA5}">
                      <a16:colId xmlns:a16="http://schemas.microsoft.com/office/drawing/2014/main" val="3412121760"/>
                    </a:ext>
                  </a:extLst>
                </a:gridCol>
              </a:tblGrid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Answer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202728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You are an expert travel blogger.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2755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Create an engaging blog post about a destination of 100characters limit.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2729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Context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The destination is Bali, and the audience is young professionals looking for budget-friendly travel tips.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73896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File, text, Image, Video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71609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Action Specification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Write a blog post highlighting top attractions, local food, and budget hacks.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967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Output Formatting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Provide the content in Markdown format with headings and bullet points.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5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33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0B43A-0CAC-EAC9-D909-A62EF0E7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48EF-D9BD-E77E-564E-37ED98EE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 of a good PROMPT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5E33BD-FEF8-2DA2-FD08-A113E6AD817E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140609-8416-3DC4-0985-3306288B3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84684"/>
              </p:ext>
            </p:extLst>
          </p:nvPr>
        </p:nvGraphicFramePr>
        <p:xfrm>
          <a:off x="2992284" y="1270327"/>
          <a:ext cx="620743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716">
                  <a:extLst>
                    <a:ext uri="{9D8B030D-6E8A-4147-A177-3AD203B41FA5}">
                      <a16:colId xmlns:a16="http://schemas.microsoft.com/office/drawing/2014/main" val="1716712617"/>
                    </a:ext>
                  </a:extLst>
                </a:gridCol>
                <a:gridCol w="3103716">
                  <a:extLst>
                    <a:ext uri="{9D8B030D-6E8A-4147-A177-3AD203B41FA5}">
                      <a16:colId xmlns:a16="http://schemas.microsoft.com/office/drawing/2014/main" val="3412121760"/>
                    </a:ext>
                  </a:extLst>
                </a:gridCol>
              </a:tblGrid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Answer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202728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You are a data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2755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Summarize insights from a dataset.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2729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Context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The dataset contains monthly sales data for an e-commerce store.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73896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684257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Action Specification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Identify trends, top-performing products, and suggest strategies to improve sales.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967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Output Formatting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Present the findings in a concise report with sections: </a:t>
                      </a:r>
                      <a:r>
                        <a:rPr lang="en-GB" b="0" i="1" dirty="0">
                          <a:effectLst/>
                          <a:latin typeface="Segoe UI" panose="020B0502040204020203" pitchFamily="34" charset="0"/>
                        </a:rPr>
                        <a:t>Overview, Key Trends, Recommendations</a:t>
                      </a: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5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12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098E-50D5-E692-BA87-AA2EEB8E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7D71A-7BD5-6C62-E6BD-61888EECA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 of a good PROMPT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737F8-DFF1-8C82-FCC3-017943BF68B7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65F154-2AAC-1BF9-6BEC-00B548CA9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523413"/>
              </p:ext>
            </p:extLst>
          </p:nvPr>
        </p:nvGraphicFramePr>
        <p:xfrm>
          <a:off x="2992284" y="1270327"/>
          <a:ext cx="62074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716">
                  <a:extLst>
                    <a:ext uri="{9D8B030D-6E8A-4147-A177-3AD203B41FA5}">
                      <a16:colId xmlns:a16="http://schemas.microsoft.com/office/drawing/2014/main" val="1716712617"/>
                    </a:ext>
                  </a:extLst>
                </a:gridCol>
                <a:gridCol w="3103716">
                  <a:extLst>
                    <a:ext uri="{9D8B030D-6E8A-4147-A177-3AD203B41FA5}">
                      <a16:colId xmlns:a16="http://schemas.microsoft.com/office/drawing/2014/main" val="3412121760"/>
                    </a:ext>
                  </a:extLst>
                </a:gridCol>
              </a:tblGrid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Your Answer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202728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You are a Python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2755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Write a script to automate a task.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2729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Context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The task is renaming all </a:t>
                      </a:r>
                      <a:r>
                        <a:rPr lang="en-GB" b="0" i="0" dirty="0">
                          <a:effectLst/>
                          <a:latin typeface="Courier New" panose="02070309020205020404" pitchFamily="49" charset="0"/>
                        </a:rPr>
                        <a:t>.jpg</a:t>
                      </a:r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 files in a folder by adding today’s date as a prefix.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73896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Action Specification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Provide the Python code with comments explaining each step.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69675"/>
                  </a:ext>
                </a:extLst>
              </a:tr>
              <a:tr h="272836">
                <a:tc>
                  <a:txBody>
                    <a:bodyPr/>
                    <a:lstStyle/>
                    <a:p>
                      <a:r>
                        <a:rPr lang="en-US" dirty="0"/>
                        <a:t>Output Formatting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effectLst/>
                          <a:latin typeface="Segoe UI" panose="020B0502040204020203" pitchFamily="34" charset="0"/>
                        </a:rPr>
                        <a:t>Share the code in a single block without extra text.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5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5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C027-A8F2-0B6B-7FCE-E5CA11ED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1D3B-7CD9-81FD-56AA-21C06211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TO CREATE A META PROMPT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2F5E6-31D8-2F0E-3ADE-6BA2ADC53BA2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  <a:endParaRPr lang="en-US" sz="13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249-1B23-94BA-8013-A00E55F6C076}"/>
              </a:ext>
            </a:extLst>
          </p:cNvPr>
          <p:cNvSpPr txBox="1"/>
          <p:nvPr/>
        </p:nvSpPr>
        <p:spPr>
          <a:xfrm>
            <a:off x="1425677" y="880611"/>
            <a:ext cx="88097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Role</a:t>
            </a:r>
            <a:r>
              <a:rPr lang="en-GB" dirty="0"/>
              <a:t>: You are </a:t>
            </a:r>
            <a:r>
              <a:rPr lang="en-GB"/>
              <a:t>an expert </a:t>
            </a:r>
            <a:r>
              <a:rPr lang="en-GB" dirty="0"/>
              <a:t>prompt Engineer.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Goal</a:t>
            </a:r>
            <a:r>
              <a:rPr lang="en-GB" dirty="0"/>
              <a:t>: You write a tailored, detailed and concise prompt.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Context</a:t>
            </a:r>
            <a:r>
              <a:rPr lang="en-GB" dirty="0"/>
              <a:t>: Use markdown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Action</a:t>
            </a:r>
            <a:r>
              <a:rPr lang="en-GB" dirty="0"/>
              <a:t>: I want you to write me a prompt that will generate high converting LinkedIn posts, with killer hooks and compelling CTA for an AI Agency that sells AI Chatbots, Voice Assistants, Workflow automations, AI Consulting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Output Format</a:t>
            </a:r>
            <a:r>
              <a:rPr lang="en-GB" dirty="0"/>
              <a:t>: </a:t>
            </a:r>
            <a:r>
              <a:rPr lang="en-GB" dirty="0" err="1"/>
              <a:t>Codeblock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3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BDA1-087F-4EA3-8EED-934B3D00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AB8BB-A715-D3F3-DA2B-E33A2F24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Example of voice assistant n8n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3F49B3-CB88-4EB4-37D3-D1060A925239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  <a:endParaRPr lang="en-US" sz="13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parajita" panose="020B0502040204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2F78C-52E1-6FB2-CDB3-C4C9A21DAD1C}"/>
              </a:ext>
            </a:extLst>
          </p:cNvPr>
          <p:cNvSpPr txBox="1"/>
          <p:nvPr/>
        </p:nvSpPr>
        <p:spPr>
          <a:xfrm>
            <a:off x="1425677" y="880611"/>
            <a:ext cx="88097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Role</a:t>
            </a:r>
            <a:r>
              <a:rPr lang="en-GB" dirty="0"/>
              <a:t>: You are a friendly Voice AI assistant integrated with n8n.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Goal</a:t>
            </a:r>
            <a:r>
              <a:rPr lang="en-GB" dirty="0"/>
              <a:t>: Gather structured feedback from participants after a workshop.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Context</a:t>
            </a:r>
            <a:r>
              <a:rPr lang="en-GB" dirty="0"/>
              <a:t>: The workshop was on “AI Agents Workshop for Working Professionals and Business Owners,” attended by 50 participants. Feedback should cover satisfaction, key takeaways, and suggestions.</a:t>
            </a:r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Action</a:t>
            </a:r>
            <a:r>
              <a:rPr lang="en-GB" dirty="0"/>
              <a:t>: Call each participant, greet them warmly, ask 3 questions:</a:t>
            </a:r>
          </a:p>
          <a:p>
            <a:r>
              <a:rPr lang="en-GB" dirty="0"/>
              <a:t>How satisfied were you with the workshop? (Rate 1–5)</a:t>
            </a:r>
          </a:p>
          <a:p>
            <a:r>
              <a:rPr lang="en-GB" dirty="0"/>
              <a:t>What was your biggest takeaway?</a:t>
            </a:r>
          </a:p>
          <a:p>
            <a:r>
              <a:rPr lang="en-GB" dirty="0"/>
              <a:t>Any suggestions for improvement?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>
                <a:solidFill>
                  <a:srgbClr val="92D050"/>
                </a:solidFill>
              </a:rPr>
              <a:t>Output Format</a:t>
            </a:r>
            <a:r>
              <a:rPr lang="en-GB" dirty="0"/>
              <a:t>: Store responses in JSON format with fields: {"Name": "", "Rating": "", "Takeaway": "", "Suggestions": ""} and send to n8n workflow for aggregation.</a:t>
            </a:r>
          </a:p>
        </p:txBody>
      </p:sp>
    </p:spTree>
    <p:extLst>
      <p:ext uri="{BB962C8B-B14F-4D97-AF65-F5344CB8AC3E}">
        <p14:creationId xmlns:p14="http://schemas.microsoft.com/office/powerpoint/2010/main" val="317868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1836-9C64-B711-AC08-ADF2C667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8C4E-2B84-7FFA-C88A-502852E0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033" y="2565947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Let’s </a:t>
            </a:r>
            <a:r>
              <a:rPr lang="en-US" dirty="0" err="1">
                <a:solidFill>
                  <a:schemeClr val="accent1"/>
                </a:solidFill>
              </a:rPr>
              <a:t>analyZe</a:t>
            </a:r>
            <a:r>
              <a:rPr lang="en-US" dirty="0">
                <a:solidFill>
                  <a:schemeClr val="accent1"/>
                </a:solidFill>
              </a:rPr>
              <a:t> one more prompt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E6565D-1F2B-E06E-42A4-C66F776B818B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75026-80CD-AA5C-F032-637D3FE46857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1291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574E-3582-E675-59EF-F68867EA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56B0-9A35-173D-9756-C3CF5F60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Best Way to Create Prompts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73D2B-65DA-22F7-00FD-498BF746C663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CFBE6-E4A2-9A29-BBCC-10A0FCE1D54D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3FD5E-5184-C7A0-3639-CE8376F3082A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By Giving examples of existing good prompts and asking LLM to create prompt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7626E-C356-606D-B5E5-4D44DBEEDD49}"/>
              </a:ext>
            </a:extLst>
          </p:cNvPr>
          <p:cNvSpPr txBox="1"/>
          <p:nvPr/>
        </p:nvSpPr>
        <p:spPr>
          <a:xfrm>
            <a:off x="3052916" y="2267463"/>
            <a:ext cx="61058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Segoe Sans"/>
              </a:rPr>
              <a:t>Act as a prompt engineer to create a prompt for Data Analysis Agent made through n8n. I have a prompt for RAG Chat bot for FAQ assistant. I want to change this to suite my customer data for my AI Agents workshop. And such that I can get all customer specific details. The columns are as below: name email phone remarks "Workshop attended on" Duration. Here is the sample prompt for FAQ. </a:t>
            </a:r>
            <a:r>
              <a:rPr lang="en-GB" dirty="0"/>
              <a:t>Give me the prompt in text format</a:t>
            </a:r>
          </a:p>
        </p:txBody>
      </p:sp>
    </p:spTree>
    <p:extLst>
      <p:ext uri="{BB962C8B-B14F-4D97-AF65-F5344CB8AC3E}">
        <p14:creationId xmlns:p14="http://schemas.microsoft.com/office/powerpoint/2010/main" val="201835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5AF67-AC31-F091-6835-B333856D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E2F2-5BB8-6CD7-C9BD-5DFC90068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Implementation time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E4172-25E7-1E12-ED2B-226DAC8A9BA8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F58D6-2648-2EA2-C5B2-1DD7EE200A41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51EB9-1696-CB48-2C20-61A44848FF5F}"/>
              </a:ext>
            </a:extLst>
          </p:cNvPr>
          <p:cNvSpPr txBox="1"/>
          <p:nvPr/>
        </p:nvSpPr>
        <p:spPr>
          <a:xfrm>
            <a:off x="1553497" y="2628567"/>
            <a:ext cx="88097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Create a prompt using ChatGPT or any other LLM, to plan a trip to North India</a:t>
            </a:r>
          </a:p>
        </p:txBody>
      </p:sp>
    </p:spTree>
    <p:extLst>
      <p:ext uri="{BB962C8B-B14F-4D97-AF65-F5344CB8AC3E}">
        <p14:creationId xmlns:p14="http://schemas.microsoft.com/office/powerpoint/2010/main" val="3655562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89AF-E71B-1793-68AB-8358B6CE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8593-005F-D8F4-85A2-E68891A7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PROMPT ENGINEERING PARAMETERS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987BD-9F30-168F-ED1A-257DDE374167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D2F025C1-3D0F-1746-433D-EAF217468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808" y="817323"/>
            <a:ext cx="3938818" cy="56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25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4D62-4B53-2767-AC15-A2DC2CA2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B72C-97EA-18EC-4697-542E2A5BF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MAX TOKENS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AB5DA9-CC96-1E58-F1FA-596507628267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A04A9-4077-FA5F-A87B-71DCE9D8F7F2}"/>
              </a:ext>
            </a:extLst>
          </p:cNvPr>
          <p:cNvSpPr txBox="1"/>
          <p:nvPr/>
        </p:nvSpPr>
        <p:spPr>
          <a:xfrm>
            <a:off x="235974" y="1140145"/>
            <a:ext cx="11956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Max Tokens</a:t>
            </a:r>
          </a:p>
          <a:p>
            <a:pPr algn="l">
              <a:buNone/>
            </a:pPr>
            <a:r>
              <a:rPr lang="en-GB" b="0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Limits how long the model’s response can be.</a:t>
            </a:r>
          </a:p>
          <a:p>
            <a:pPr algn="l">
              <a:buNone/>
            </a:pPr>
            <a:r>
              <a:rPr lang="en-GB" b="0" i="0" dirty="0">
                <a:solidFill>
                  <a:srgbClr val="92D050"/>
                </a:solidFill>
                <a:effectLst/>
                <a:latin typeface="Arial" panose="020B0604020202020204" pitchFamily="34" charset="0"/>
              </a:rPr>
              <a:t>Example: With Max Tokens = 50, the model gives a short email; with 500, it may write a full detailed explanation.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0E207-1FC5-4F8D-43F4-9B1FF5D64608}"/>
              </a:ext>
            </a:extLst>
          </p:cNvPr>
          <p:cNvSpPr txBox="1"/>
          <p:nvPr/>
        </p:nvSpPr>
        <p:spPr>
          <a:xfrm>
            <a:off x="703006" y="2520993"/>
            <a:ext cx="111546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Max Tokens = 50 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today’s meeting. We appreciate your time and valuable inputs. Looking forward to our next steps together.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Max Tokens = 300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taking the time to attend today’s meeting. We truly appreciate your insights, questions, and engagement throughout the discussion. It was a pleasure connecting with you, and we look forward to collaborating further and taking the next steps together.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📌 Learning: Max Tokens controls length and cost, not intelligence.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4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E8B7-B114-D258-32E4-A5B13C35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2E07-D700-343F-D46F-06290D3A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temperature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64991-01D8-DDDC-2086-7B92A7ED3C0F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4B5E2-E1EE-CF5F-7DE1-D73071C84EF2}"/>
              </a:ext>
            </a:extLst>
          </p:cNvPr>
          <p:cNvSpPr txBox="1"/>
          <p:nvPr/>
        </p:nvSpPr>
        <p:spPr>
          <a:xfrm>
            <a:off x="117986" y="1140145"/>
            <a:ext cx="11838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Controls how creative or predictable the response is.</a:t>
            </a:r>
          </a:p>
          <a:p>
            <a:r>
              <a:rPr lang="en-GB" dirty="0">
                <a:solidFill>
                  <a:srgbClr val="92D050"/>
                </a:solidFill>
              </a:rPr>
              <a:t>Example: At 0.2, an email sounds formal and consistent; at 0.8, the same email becomes more expressive and varied.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8CABF-69BA-9098-F13E-CE9666D0E141}"/>
              </a:ext>
            </a:extLst>
          </p:cNvPr>
          <p:cNvSpPr txBox="1"/>
          <p:nvPr/>
        </p:nvSpPr>
        <p:spPr>
          <a:xfrm>
            <a:off x="703006" y="2520993"/>
            <a:ext cx="111546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Temperature = 0.2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time and look forward to the next steps.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Temperature = 0.8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so much for joining today’s meeting! It was great connecting with you, and we truly appreciated the engaging discussion and your valuable perspectives.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📌 Learning: Lower temperature = consistent &amp; professional. Higher = expressive &amp; creative.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043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8BF0-1D2D-E7BA-1AC1-3E3A6C4F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B909-0447-3558-0B05-9ADC2CD86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TOP P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D0A8A-E3F7-171D-E077-37DA82C1B711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849AD-2F2C-5D36-2E50-9AB371E43270}"/>
              </a:ext>
            </a:extLst>
          </p:cNvPr>
          <p:cNvSpPr txBox="1"/>
          <p:nvPr/>
        </p:nvSpPr>
        <p:spPr>
          <a:xfrm>
            <a:off x="206477" y="1140145"/>
            <a:ext cx="11867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Controls how many possible words the model considers while generating text.</a:t>
            </a:r>
          </a:p>
          <a:p>
            <a:r>
              <a:rPr lang="en-GB" dirty="0">
                <a:solidFill>
                  <a:srgbClr val="92D050"/>
                </a:solidFill>
              </a:rPr>
              <a:t>Example: With Top P = 1, language sounds natural; with 0.5, wording becomes very safe and limited.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38A89-1AD1-E2E2-4BA9-BB1EAF8BC2EB}"/>
              </a:ext>
            </a:extLst>
          </p:cNvPr>
          <p:cNvSpPr txBox="1"/>
          <p:nvPr/>
        </p:nvSpPr>
        <p:spPr>
          <a:xfrm>
            <a:off x="703006" y="2520993"/>
            <a:ext cx="111546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Top P = 1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participation and look forward to our continued collaboration.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Top P = 0.5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time.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📌 Learning: Lower Top P restricts vocabulary and variety. Usually unnecessary if Temperature is set.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38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ACDF-AA47-F102-8494-066E0B87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9940-EB92-3AAB-DB45-781FC221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Frequency penalty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52F1A5-C325-E021-2075-FB0DF6EDE44C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70376-CCDB-076D-84CE-BF75A2FF822C}"/>
              </a:ext>
            </a:extLst>
          </p:cNvPr>
          <p:cNvSpPr txBox="1"/>
          <p:nvPr/>
        </p:nvSpPr>
        <p:spPr>
          <a:xfrm>
            <a:off x="108154" y="1140145"/>
            <a:ext cx="11621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Reduces repetition of the same words or phrases.</a:t>
            </a:r>
          </a:p>
          <a:p>
            <a:r>
              <a:rPr lang="en-GB" dirty="0">
                <a:solidFill>
                  <a:srgbClr val="92D050"/>
                </a:solidFill>
              </a:rPr>
              <a:t>Example: With 0, the model may repeat “thank you”; with 0.8, it avoids repeating the same phrase.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2D32A-8476-BBB3-E193-8811E41A75CC}"/>
              </a:ext>
            </a:extLst>
          </p:cNvPr>
          <p:cNvSpPr txBox="1"/>
          <p:nvPr/>
        </p:nvSpPr>
        <p:spPr>
          <a:xfrm>
            <a:off x="703006" y="2520993"/>
            <a:ext cx="111546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Frequency Penalty = 0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Thank you for sharing your feedback. Thank you for your time.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Frequency Penalty = 0.8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feedback and the time you invested.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📌 Learning: Higher values reduce repeated words, but can sound forced if overused.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77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4F60-C113-A8FA-5EB2-7B2EE798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3D78-AAF9-4BA7-1573-A2CBFA4DF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presence penalty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7D05F5-FAD8-2CE0-B18B-CD4AFA638FF2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98E2B-D086-0DD2-3FDA-207E8FE87DF5}"/>
              </a:ext>
            </a:extLst>
          </p:cNvPr>
          <p:cNvSpPr txBox="1"/>
          <p:nvPr/>
        </p:nvSpPr>
        <p:spPr>
          <a:xfrm>
            <a:off x="216310" y="1140145"/>
            <a:ext cx="11680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Encourages the model to introduce new topics or ideas.</a:t>
            </a:r>
          </a:p>
          <a:p>
            <a:r>
              <a:rPr lang="en-GB" dirty="0">
                <a:solidFill>
                  <a:srgbClr val="92D050"/>
                </a:solidFill>
              </a:rPr>
              <a:t>Example: With 0, the response stays focused on writing an email; with 0.7, it may start adding unrelated suggestions.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C526D-B813-913F-F62B-5E08C649FD24}"/>
              </a:ext>
            </a:extLst>
          </p:cNvPr>
          <p:cNvSpPr txBox="1"/>
          <p:nvPr/>
        </p:nvSpPr>
        <p:spPr>
          <a:xfrm>
            <a:off x="703006" y="2520993"/>
            <a:ext cx="111546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Presence Penalty = 0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time and look forward to the next steps.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Presence Penalty = 0.7</a:t>
            </a:r>
          </a:p>
          <a:p>
            <a:r>
              <a:rPr lang="en-GB" dirty="0">
                <a:latin typeface="Arial" panose="020B0604020202020204" pitchFamily="34" charset="0"/>
              </a:rPr>
              <a:t>Output:</a:t>
            </a:r>
          </a:p>
          <a:p>
            <a:r>
              <a:rPr lang="en-GB" dirty="0">
                <a:latin typeface="Arial" panose="020B0604020202020204" pitchFamily="34" charset="0"/>
              </a:rPr>
              <a:t>&gt; Thank you for attending the meeting. We appreciate your time. You may also explore our services, upcoming events, and additional resources</a:t>
            </a:r>
          </a:p>
          <a:p>
            <a:endParaRPr lang="en-GB" dirty="0">
              <a:latin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</a:rPr>
              <a:t>📌 Learning: Presence penalty introduces new topics — bad for focused automation.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411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965A9-C1C6-118A-2D73-97362388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0A40A-A237-7079-37D3-F3715438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Alternative to </a:t>
            </a:r>
            <a:r>
              <a:rPr lang="en-US" dirty="0" err="1">
                <a:solidFill>
                  <a:schemeClr val="accent1"/>
                </a:solidFill>
              </a:rPr>
              <a:t>gemini</a:t>
            </a:r>
            <a:r>
              <a:rPr lang="en-US" dirty="0">
                <a:solidFill>
                  <a:schemeClr val="accent1"/>
                </a:solidFill>
              </a:rPr>
              <a:t> API- </a:t>
            </a:r>
            <a:r>
              <a:rPr lang="en-US" dirty="0" err="1">
                <a:solidFill>
                  <a:schemeClr val="accent1"/>
                </a:solidFill>
              </a:rPr>
              <a:t>Openrouter</a:t>
            </a:r>
            <a:r>
              <a:rPr lang="en-US" dirty="0">
                <a:solidFill>
                  <a:schemeClr val="accent1"/>
                </a:solidFill>
              </a:rPr>
              <a:t>-Best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D2B08-6C63-624E-60AD-D589A0C90521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9FA72-05D8-3154-91B7-51FE9CA1828D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5403F-FA21-2D54-448D-916B5C212E3A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Open Router-Steps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BFA8C-6715-2DD9-8557-CA55A662254B}"/>
              </a:ext>
            </a:extLst>
          </p:cNvPr>
          <p:cNvSpPr txBox="1"/>
          <p:nvPr/>
        </p:nvSpPr>
        <p:spPr>
          <a:xfrm>
            <a:off x="378542" y="2188805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Create account in </a:t>
            </a:r>
            <a:r>
              <a:rPr lang="en-US" dirty="0" err="1"/>
              <a:t>Openrouter</a:t>
            </a:r>
            <a:r>
              <a:rPr lang="en-US" dirty="0"/>
              <a:t> and create Key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credits- start with 5$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Open router in n8n like this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Try not to use memory to save tokens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Note: Do not use 70B versions- very expensive</a:t>
            </a:r>
            <a:endParaRPr lang="en-GB" dirty="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2497CD3-7B84-39B4-845E-772B025F5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12" y="1249943"/>
            <a:ext cx="3177815" cy="45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63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552A-ABFC-2856-678A-2D77890E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7B1A-2604-33E5-000E-35A6182F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39" y="96573"/>
            <a:ext cx="10353761" cy="86305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Alternative to </a:t>
            </a:r>
            <a:r>
              <a:rPr lang="en-US" dirty="0" err="1">
                <a:solidFill>
                  <a:schemeClr val="accent1"/>
                </a:solidFill>
              </a:rPr>
              <a:t>gemini</a:t>
            </a:r>
            <a:r>
              <a:rPr lang="en-US" dirty="0">
                <a:solidFill>
                  <a:schemeClr val="accent1"/>
                </a:solidFill>
              </a:rPr>
              <a:t> API-OpenAI-Costly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F6183A-EFBB-5722-CD3C-6B1CA811F36F}"/>
              </a:ext>
            </a:extLst>
          </p:cNvPr>
          <p:cNvSpPr/>
          <p:nvPr/>
        </p:nvSpPr>
        <p:spPr>
          <a:xfrm>
            <a:off x="10805145" y="0"/>
            <a:ext cx="1386855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AI AGENTS</a:t>
            </a:r>
          </a:p>
          <a:p>
            <a:pPr algn="ctr"/>
            <a:r>
              <a:rPr lang="en-US" sz="13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  <a:cs typeface="Aparajita" panose="020B0502040204020203" pitchFamily="18" charset="0"/>
              </a:rPr>
              <a:t>SHWETA GUPTA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94157-E015-59F0-356F-D7E97C3D9DE5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22D02-BDA5-2040-4CE3-46616FA5B4E7}"/>
              </a:ext>
            </a:extLst>
          </p:cNvPr>
          <p:cNvSpPr txBox="1"/>
          <p:nvPr/>
        </p:nvSpPr>
        <p:spPr>
          <a:xfrm>
            <a:off x="1425677" y="880611"/>
            <a:ext cx="8809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OpenAI-Steps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72254-EFED-EF85-B52A-C7A79B05E6F8}"/>
              </a:ext>
            </a:extLst>
          </p:cNvPr>
          <p:cNvSpPr txBox="1"/>
          <p:nvPr/>
        </p:nvSpPr>
        <p:spPr>
          <a:xfrm>
            <a:off x="378542" y="2188805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Create account in OpenAI and create Key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payment method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Open AI LLM in n8n like this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Try not to use memory to save tokens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Note: Use gpt-4o-mini</a:t>
            </a:r>
            <a:endParaRPr lang="en-GB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77E847-2719-2C80-C01F-DA9764C7F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158" y="1249943"/>
            <a:ext cx="3314987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8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5</TotalTime>
  <Words>3549</Words>
  <Application>Microsoft Office PowerPoint</Application>
  <PresentationFormat>Widescreen</PresentationFormat>
  <Paragraphs>439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Bookman Old Style</vt:lpstr>
      <vt:lpstr>Courier New</vt:lpstr>
      <vt:lpstr>Rockwell</vt:lpstr>
      <vt:lpstr>Segoe Sans</vt:lpstr>
      <vt:lpstr>Segoe UI</vt:lpstr>
      <vt:lpstr>Damask</vt:lpstr>
      <vt:lpstr>AI Agents DOMINATION</vt:lpstr>
      <vt:lpstr>WHY PROMPT ENGINEERING?</vt:lpstr>
      <vt:lpstr>PROMPT ENGINEERING</vt:lpstr>
      <vt:lpstr>SMART Goal in PROMPT ENGINEERING</vt:lpstr>
      <vt:lpstr>Example of a good PROMPT</vt:lpstr>
      <vt:lpstr>Example of a good PROMPT</vt:lpstr>
      <vt:lpstr>Example of a good PROMPT</vt:lpstr>
      <vt:lpstr>HOW TO CREATE A META PROMPT</vt:lpstr>
      <vt:lpstr>Example of voice assistant n8n</vt:lpstr>
      <vt:lpstr>Let’s analyZe one more prompt</vt:lpstr>
      <vt:lpstr>Best Way to Create Prompts</vt:lpstr>
      <vt:lpstr>Implementation time</vt:lpstr>
      <vt:lpstr>PROMPT ENGINEERING PARAMETERS</vt:lpstr>
      <vt:lpstr>MAX TOKENS</vt:lpstr>
      <vt:lpstr>temperature</vt:lpstr>
      <vt:lpstr>TOP P</vt:lpstr>
      <vt:lpstr>Frequency penalty</vt:lpstr>
      <vt:lpstr>presence penalty</vt:lpstr>
      <vt:lpstr>Alternative to gemini API- Openrouter-Best</vt:lpstr>
      <vt:lpstr>Alternative to gemini API-OpenAI-Costly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Masterclass 30 MAY 2025</dc:title>
  <dc:creator>Kunaal Naik</dc:creator>
  <cp:lastModifiedBy>Shweta Gupta</cp:lastModifiedBy>
  <cp:revision>655</cp:revision>
  <dcterms:created xsi:type="dcterms:W3CDTF">2025-01-27T12:46:56Z</dcterms:created>
  <dcterms:modified xsi:type="dcterms:W3CDTF">2026-05-08T21:03:37Z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89eaf13-f528-470e-bf6b-38b666617431_Enabled">
    <vt:lpwstr>true</vt:lpwstr>
  </property>
  <property fmtid="{D5CDD505-2E9C-101B-9397-08002B2CF9AE}" pid="3" name="MSIP_Label_289eaf13-f528-470e-bf6b-38b666617431_SetDate">
    <vt:lpwstr>2025-09-11T06:50:51Z</vt:lpwstr>
  </property>
  <property fmtid="{D5CDD505-2E9C-101B-9397-08002B2CF9AE}" pid="4" name="MSIP_Label_289eaf13-f528-470e-bf6b-38b666617431_Method">
    <vt:lpwstr>Standard</vt:lpwstr>
  </property>
  <property fmtid="{D5CDD505-2E9C-101B-9397-08002B2CF9AE}" pid="5" name="MSIP_Label_289eaf13-f528-470e-bf6b-38b666617431_Name">
    <vt:lpwstr>Proprietary</vt:lpwstr>
  </property>
  <property fmtid="{D5CDD505-2E9C-101B-9397-08002B2CF9AE}" pid="6" name="MSIP_Label_289eaf13-f528-470e-bf6b-38b666617431_SiteId">
    <vt:lpwstr>4c087f80-1e07-4f72-9e41-d7d9748d0f4c</vt:lpwstr>
  </property>
  <property fmtid="{D5CDD505-2E9C-101B-9397-08002B2CF9AE}" pid="7" name="MSIP_Label_289eaf13-f528-470e-bf6b-38b666617431_ActionId">
    <vt:lpwstr>75dec29b-ada4-4785-83e8-fd892288935b</vt:lpwstr>
  </property>
  <property fmtid="{D5CDD505-2E9C-101B-9397-08002B2CF9AE}" pid="8" name="MSIP_Label_289eaf13-f528-470e-bf6b-38b666617431_ContentBits">
    <vt:lpwstr>0</vt:lpwstr>
  </property>
  <property fmtid="{D5CDD505-2E9C-101B-9397-08002B2CF9AE}" pid="9" name="MSIP_Label_289eaf13-f528-470e-bf6b-38b666617431_Tag">
    <vt:lpwstr>10, 3, 0, 1</vt:lpwstr>
  </property>
</Properties>
</file>